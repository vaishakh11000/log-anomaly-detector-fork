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267" r:id="rId19"/>
    <p:sldId id="268" r:id="rId20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48890D-540F-4505-B2D0-299960C6D834}" v="11" dt="2026-08-06T23:53:35.772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906" y="2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an Nair" userId="7060867dae9cde7e" providerId="LiveId" clId="{D20BD99A-0656-41EA-BFDB-226E3F07B0EC}"/>
    <pc:docChg chg="undo custSel addSld delSld modSld sldOrd">
      <pc:chgData name="Anandan Nair" userId="7060867dae9cde7e" providerId="LiveId" clId="{D20BD99A-0656-41EA-BFDB-226E3F07B0EC}" dt="2026-08-06T23:53:35.772" v="132"/>
      <pc:docMkLst>
        <pc:docMk/>
      </pc:docMkLst>
      <pc:sldChg chg="modSp mod">
        <pc:chgData name="Anandan Nair" userId="7060867dae9cde7e" providerId="LiveId" clId="{D20BD99A-0656-41EA-BFDB-226E3F07B0EC}" dt="2026-08-06T23:12:29.265" v="37" actId="20577"/>
        <pc:sldMkLst>
          <pc:docMk/>
          <pc:sldMk cId="0" sldId="256"/>
        </pc:sldMkLst>
        <pc:spChg chg="mod">
          <ac:chgData name="Anandan Nair" userId="7060867dae9cde7e" providerId="LiveId" clId="{D20BD99A-0656-41EA-BFDB-226E3F07B0EC}" dt="2026-08-06T23:12:29.265" v="37" actId="20577"/>
          <ac:spMkLst>
            <pc:docMk/>
            <pc:sldMk cId="0" sldId="256"/>
            <ac:spMk id="4" creationId="{3D26C814-407F-67A9-67AA-A1E006EA2ED7}"/>
          </ac:spMkLst>
        </pc:spChg>
      </pc:sldChg>
      <pc:sldChg chg="addSp delSp modSp mod">
        <pc:chgData name="Anandan Nair" userId="7060867dae9cde7e" providerId="LiveId" clId="{D20BD99A-0656-41EA-BFDB-226E3F07B0EC}" dt="2026-08-06T23:52:10.785" v="127" actId="732"/>
        <pc:sldMkLst>
          <pc:docMk/>
          <pc:sldMk cId="3791349051" sldId="287"/>
        </pc:sldMkLst>
        <pc:spChg chg="del mod">
          <ac:chgData name="Anandan Nair" userId="7060867dae9cde7e" providerId="LiveId" clId="{D20BD99A-0656-41EA-BFDB-226E3F07B0EC}" dt="2026-08-06T23:10:18.160" v="8" actId="478"/>
          <ac:spMkLst>
            <pc:docMk/>
            <pc:sldMk cId="3791349051" sldId="287"/>
            <ac:spMk id="25603" creationId="{43B298A3-112F-399C-09A1-605EE4492AAB}"/>
          </ac:spMkLst>
        </pc:spChg>
        <pc:graphicFrameChg chg="del">
          <ac:chgData name="Anandan Nair" userId="7060867dae9cde7e" providerId="LiveId" clId="{D20BD99A-0656-41EA-BFDB-226E3F07B0EC}" dt="2026-08-06T23:08:44.622" v="0" actId="478"/>
          <ac:graphicFrameMkLst>
            <pc:docMk/>
            <pc:sldMk cId="3791349051" sldId="287"/>
            <ac:graphicFrameMk id="2" creationId="{0F3DC1B7-307A-A7EA-27CF-B152EA1C4AA5}"/>
          </ac:graphicFrameMkLst>
        </pc:graphicFrameChg>
        <pc:picChg chg="add mod modCrop">
          <ac:chgData name="Anandan Nair" userId="7060867dae9cde7e" providerId="LiveId" clId="{D20BD99A-0656-41EA-BFDB-226E3F07B0EC}" dt="2026-08-06T23:52:10.785" v="127" actId="732"/>
          <ac:picMkLst>
            <pc:docMk/>
            <pc:sldMk cId="3791349051" sldId="287"/>
            <ac:picMk id="5" creationId="{52B2BCC4-8DC0-067B-06A6-979CA03498F6}"/>
          </ac:picMkLst>
        </pc:picChg>
        <pc:picChg chg="add del mod modCrop">
          <ac:chgData name="Anandan Nair" userId="7060867dae9cde7e" providerId="LiveId" clId="{D20BD99A-0656-41EA-BFDB-226E3F07B0EC}" dt="2026-08-06T23:47:54.449" v="106" actId="478"/>
          <ac:picMkLst>
            <pc:docMk/>
            <pc:sldMk cId="3791349051" sldId="287"/>
            <ac:picMk id="6" creationId="{A8649D71-A338-7C13-E183-695BB3BD5C7A}"/>
          </ac:picMkLst>
        </pc:picChg>
      </pc:sldChg>
      <pc:sldChg chg="ord">
        <pc:chgData name="Anandan Nair" userId="7060867dae9cde7e" providerId="LiveId" clId="{D20BD99A-0656-41EA-BFDB-226E3F07B0EC}" dt="2026-08-06T23:32:54.365" v="78"/>
        <pc:sldMkLst>
          <pc:docMk/>
          <pc:sldMk cId="4189069104" sldId="288"/>
        </pc:sldMkLst>
      </pc:sldChg>
      <pc:sldChg chg="addSp delSp modSp add mod modTransition">
        <pc:chgData name="Anandan Nair" userId="7060867dae9cde7e" providerId="LiveId" clId="{D20BD99A-0656-41EA-BFDB-226E3F07B0EC}" dt="2026-08-06T23:53:35.772" v="132"/>
        <pc:sldMkLst>
          <pc:docMk/>
          <pc:sldMk cId="3034907689" sldId="293"/>
        </pc:sldMkLst>
        <pc:spChg chg="add del mod ord">
          <ac:chgData name="Anandan Nair" userId="7060867dae9cde7e" providerId="LiveId" clId="{D20BD99A-0656-41EA-BFDB-226E3F07B0EC}" dt="2026-08-06T23:47:46.338" v="105" actId="478"/>
          <ac:spMkLst>
            <pc:docMk/>
            <pc:sldMk cId="3034907689" sldId="293"/>
            <ac:spMk id="6" creationId="{D3EB1C15-A196-0395-6F88-9D61BF15E362}"/>
          </ac:spMkLst>
        </pc:spChg>
        <pc:spChg chg="del mod">
          <ac:chgData name="Anandan Nair" userId="7060867dae9cde7e" providerId="LiveId" clId="{D20BD99A-0656-41EA-BFDB-226E3F07B0EC}" dt="2026-08-06T23:24:47.731" v="49" actId="478"/>
          <ac:spMkLst>
            <pc:docMk/>
            <pc:sldMk cId="3034907689" sldId="293"/>
            <ac:spMk id="25603" creationId="{97B92600-D118-399F-656D-E5A29E8B5B9C}"/>
          </ac:spMkLst>
        </pc:spChg>
        <pc:picChg chg="add del mod ord modCrop">
          <ac:chgData name="Anandan Nair" userId="7060867dae9cde7e" providerId="LiveId" clId="{D20BD99A-0656-41EA-BFDB-226E3F07B0EC}" dt="2026-08-06T23:50:41.551" v="120" actId="14100"/>
          <ac:picMkLst>
            <pc:docMk/>
            <pc:sldMk cId="3034907689" sldId="293"/>
            <ac:picMk id="5" creationId="{270907A1-0EED-0B01-A8BE-9BA577915BB1}"/>
          </ac:picMkLst>
        </pc:picChg>
      </pc:sldChg>
      <pc:sldChg chg="add del">
        <pc:chgData name="Anandan Nair" userId="7060867dae9cde7e" providerId="LiveId" clId="{D20BD99A-0656-41EA-BFDB-226E3F07B0EC}" dt="2026-08-06T23:34:19.665" v="81" actId="47"/>
        <pc:sldMkLst>
          <pc:docMk/>
          <pc:sldMk cId="2662854944" sldId="294"/>
        </pc:sldMkLst>
      </pc:sldChg>
      <pc:sldChg chg="addSp delSp modSp add mod modTransition">
        <pc:chgData name="Anandan Nair" userId="7060867dae9cde7e" providerId="LiveId" clId="{D20BD99A-0656-41EA-BFDB-226E3F07B0EC}" dt="2026-08-06T23:33:01.452" v="79"/>
        <pc:sldMkLst>
          <pc:docMk/>
          <pc:sldMk cId="1842872948" sldId="295"/>
        </pc:sldMkLst>
        <pc:spChg chg="add del mod">
          <ac:chgData name="Anandan Nair" userId="7060867dae9cde7e" providerId="LiveId" clId="{D20BD99A-0656-41EA-BFDB-226E3F07B0EC}" dt="2026-08-06T23:30:50.859" v="64" actId="478"/>
          <ac:spMkLst>
            <pc:docMk/>
            <pc:sldMk cId="1842872948" sldId="295"/>
            <ac:spMk id="4" creationId="{0FF17ED6-BFEA-454F-7AA1-FAFD1DB02538}"/>
          </ac:spMkLst>
        </pc:spChg>
        <pc:spChg chg="del">
          <ac:chgData name="Anandan Nair" userId="7060867dae9cde7e" providerId="LiveId" clId="{D20BD99A-0656-41EA-BFDB-226E3F07B0EC}" dt="2026-08-06T23:30:07.505" v="61" actId="478"/>
          <ac:spMkLst>
            <pc:docMk/>
            <pc:sldMk cId="1842872948" sldId="295"/>
            <ac:spMk id="25602" creationId="{EF7EBB6E-FFD4-E321-6E7D-F9C2C6E076AD}"/>
          </ac:spMkLst>
        </pc:spChg>
        <pc:picChg chg="mod">
          <ac:chgData name="Anandan Nair" userId="7060867dae9cde7e" providerId="LiveId" clId="{D20BD99A-0656-41EA-BFDB-226E3F07B0EC}" dt="2026-08-06T23:31:19.188" v="66" actId="1076"/>
          <ac:picMkLst>
            <pc:docMk/>
            <pc:sldMk cId="1842872948" sldId="295"/>
            <ac:picMk id="5" creationId="{11686E6E-E5C2-D36A-9307-9534C3734003}"/>
          </ac:picMkLst>
        </pc:picChg>
      </pc:sldChg>
      <pc:sldChg chg="modSp add mod ord modTransition">
        <pc:chgData name="Anandan Nair" userId="7060867dae9cde7e" providerId="LiveId" clId="{D20BD99A-0656-41EA-BFDB-226E3F07B0EC}" dt="2026-08-06T23:33:12.725" v="80"/>
        <pc:sldMkLst>
          <pc:docMk/>
          <pc:sldMk cId="206352735" sldId="296"/>
        </pc:sldMkLst>
        <pc:picChg chg="mod">
          <ac:chgData name="Anandan Nair" userId="7060867dae9cde7e" providerId="LiveId" clId="{D20BD99A-0656-41EA-BFDB-226E3F07B0EC}" dt="2026-08-06T23:32:23.906" v="75" actId="1076"/>
          <ac:picMkLst>
            <pc:docMk/>
            <pc:sldMk cId="206352735" sldId="296"/>
            <ac:picMk id="5" creationId="{F40472ED-D6EE-D4C9-C567-458CB2163A78}"/>
          </ac:picMkLst>
        </pc:picChg>
      </pc:sldChg>
      <pc:sldChg chg="delSp modSp add del mod">
        <pc:chgData name="Anandan Nair" userId="7060867dae9cde7e" providerId="LiveId" clId="{D20BD99A-0656-41EA-BFDB-226E3F07B0EC}" dt="2026-08-06T23:51:56.940" v="126" actId="47"/>
        <pc:sldMkLst>
          <pc:docMk/>
          <pc:sldMk cId="2383303860" sldId="297"/>
        </pc:sldMkLst>
        <pc:picChg chg="del mod">
          <ac:chgData name="Anandan Nair" userId="7060867dae9cde7e" providerId="LiveId" clId="{D20BD99A-0656-41EA-BFDB-226E3F07B0EC}" dt="2026-08-06T23:51:52.301" v="125" actId="478"/>
          <ac:picMkLst>
            <pc:docMk/>
            <pc:sldMk cId="2383303860" sldId="297"/>
            <ac:picMk id="5" creationId="{211812EA-7B5D-60EA-7CB6-BC27D033E13D}"/>
          </ac:picMkLst>
        </pc:picChg>
      </pc:sldChg>
      <pc:sldChg chg="modSp add mod modTransition">
        <pc:chgData name="Anandan Nair" userId="7060867dae9cde7e" providerId="LiveId" clId="{D20BD99A-0656-41EA-BFDB-226E3F07B0EC}" dt="2026-08-06T23:52:59.609" v="131"/>
        <pc:sldMkLst>
          <pc:docMk/>
          <pc:sldMk cId="3547196329" sldId="297"/>
        </pc:sldMkLst>
        <pc:picChg chg="mod">
          <ac:chgData name="Anandan Nair" userId="7060867dae9cde7e" providerId="LiveId" clId="{D20BD99A-0656-41EA-BFDB-226E3F07B0EC}" dt="2026-08-06T23:52:50.174" v="130" actId="1076"/>
          <ac:picMkLst>
            <pc:docMk/>
            <pc:sldMk cId="3547196329" sldId="297"/>
            <ac:picMk id="5" creationId="{3B096E54-2FA9-0D57-73CF-3C25588A5B2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FD11AB-A3EA-5B27-DDF0-55A4409446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D1F58-D180-A2AA-4AFE-A753174D59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C2C49FC-C962-4965-BCF1-735E3A1A286C}" type="datetimeFigureOut">
              <a:rPr lang="en-IN"/>
              <a:pPr>
                <a:defRPr/>
              </a:pPr>
              <a:t>07-08-2026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202B8-936B-605C-01AF-9A0C6C4B70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IN"/>
              <a:t>Department of Computer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9F86E-71A5-6004-EE55-1B9C898F39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08D438B-6819-4E8E-9A5E-01DFDAB5471E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E0D1B1-7CC0-1D85-E1F7-9041817339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29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592A3-4541-1EAA-C106-789FC1EF59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429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DD2F93F-1319-4493-AB76-5B3416E4FEBD}" type="datetimeFigureOut">
              <a:rPr lang="en-US"/>
              <a:pPr>
                <a:defRPr/>
              </a:pPr>
              <a:t>8/7/2026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3BFB9B-F7E4-4AE0-5BBD-B64F2F371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59F1076-7473-F4F1-A18E-5480A03AC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A263B-93BD-EC56-B3D7-84A52A4ACB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293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Department of Computer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238B4-4CA1-1918-15A8-CBB620DA3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A398245-7587-4F16-9941-508DD34AC7A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DE5AAA8-C4DE-9B6A-1AAE-F85186057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5BD3D4DC-3F1F-55BA-D035-C4577A1FC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F61FE-5DC0-FF8D-6848-82DCC0DDCE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Engineering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BB6E5F9E-1014-C580-375E-E08C30F19B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BED68B80-4D42-4B6C-8FE7-5745AFCB267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FC98834-EF95-C682-9BE7-8AB9C7CF1A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C5C5D-4FA8-4DF4-AEFC-5E8F2CDD977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2B1E860-4B1C-1DF7-6DF8-C7C146B3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95310C21-E7BB-AAD0-9E89-59F0A70D29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7831AD0-AE38-4FBE-9092-2D1E00B902ED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10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8E3868-35D8-DEBE-0E97-236A0BA24C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41863" y="6362700"/>
            <a:ext cx="2540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defRPr/>
            </a:pPr>
            <a:endParaRPr lang="en-US" altLang="en-US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C6ACCFA-6891-4827-D21C-F4E315DB86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6381750"/>
            <a:ext cx="1016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A2800E0-A03E-0CA1-546C-D7370ED642F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ADCA3-AD52-40BF-A916-95F2CC279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F5D7A9E-5BDC-26C2-EA90-3C2499199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E27CECDD-26EB-08C2-E26E-FD38D5C7CD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563C8F3-B6FC-4084-82B3-D57DD4F7451F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73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5FE88B7-AEFC-F605-1307-331B6FE8D3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EA9F9-2A8A-4F7E-8F6B-2A14E409800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9D4F81B-4FB5-4462-CBC0-D6AE6113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5B43F43-3DF9-018E-D2B5-24737E449E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E15C72-8DD9-4F9A-B069-B524F0D8A2BE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916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538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38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27B84B1-8127-2D24-6E90-84DFBEA630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9B8D3-87EC-4579-A1E7-AEEE934095C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22146CB-8A84-610E-5272-F52884004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7B38717D-AA2D-EB06-6B2F-7D020B662B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C902761-DAB0-4FBD-B90F-0558C8B1A14D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90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4F5ED51-3EC8-0D3B-8782-6CD7B780EE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D07D5-D3BB-4184-896B-3C3ACE15C4B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E87F7E8A-12AD-7F84-A9C1-3938A2DD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FB473C57-EC53-E077-1BFF-8C1174557E0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C9A0C18-D120-4357-8AEE-58EDCE8916B7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30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759C835-2929-5104-9F7F-2EB55F80D5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C0E6D-4473-4A09-BF99-D93426E9B32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A8EC995-0BDF-654B-1CC4-CB57F1CB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3BF31E45-3F7B-E3DD-A018-9CF80D7B4F2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25943A9-982B-4F7C-A2CE-96A45EC24094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1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5249180-D94A-E777-6A62-8EC114B014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EB037-0883-4E62-A9F9-B0E1CDAB402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F16C7B0B-2516-3E7E-3158-42DFA9FE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A166544B-FE50-347E-1567-FA1E3D7CF6D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E75B20D-25C9-4F71-B9FB-2E8007CA4F04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82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EB59BA4-07DA-D74A-7573-436CA3F6A1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02C24-8CEE-49D3-A95C-16E6B54DA91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B16B0B9-6F76-1EA5-A654-B81D31F9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28C30347-E6FA-9817-DECF-2B8DC817E2B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465D7C9-2622-44DC-89E6-4A7CBA433299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97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B06D602-B9B1-CDBE-6D9A-7E518E1765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93670-7569-4BE5-92E7-8D439998B86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B969506-7903-D1EA-6CD0-B6420A14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D7DF5D29-E800-910B-7FF7-217CF043ED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E8A42E-400D-415E-BB16-ABFB658D193D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32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E5AC745-EE6F-CC37-DFE0-BE061BEC2F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DFD97-B003-4428-AD4C-6089B2C02F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31AAF79-8E63-474C-7F1E-11EC7D10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9142839-EDFB-A182-BA2F-D1FEBB88B98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EAF3681-70A0-4638-97FB-FD94C0CE831F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29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8"/>
            <a:ext cx="2743200" cy="6126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8"/>
            <a:ext cx="8026400" cy="6126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8EFDCD4-E435-F64E-7C0F-08640C5F6D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718F1-4D4D-4347-BC12-FD2B1541101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7431F81-305A-B1C0-70EA-6D1766A3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BA06E6F6-6060-31F7-06F3-1F8BC8A37C3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A10B5B-4C28-4B75-83AF-73199897892F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447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538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38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DA6B49-6652-2563-1806-7989CDFE20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582E7E-48D9-4016-84DA-F9E4160F6EF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89C28105-0C37-5BCD-3D38-35C9C4DD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596B6677-5B55-3B28-B461-58089DE4E9C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393AF1-2C92-430D-AC67-A76B570DCAD7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95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538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066800"/>
            <a:ext cx="538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3800"/>
            <a:ext cx="538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2B16A74-F3E8-370D-4AAC-6B102074CB5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7C0B5-16DF-47D4-9FD8-52A3E66D917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6E75C0E5-4237-5C86-740A-7435CB6F5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8F2E487E-F7A2-9034-6609-C425F3739C9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9F6C999-0C56-443E-841D-405159DB2889}" type="datetime1">
              <a:rPr lang="en-IN" smtClean="0"/>
              <a:t>07-08-2026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175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D372B04-E8C5-BC54-6D88-3344E1152F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6380163"/>
            <a:ext cx="7315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9728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066800"/>
            <a:ext cx="10972800" cy="5181600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351FEA5-6550-8A79-3977-29C68631DF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6F128-DBA2-49DA-8912-F81A569038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11059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8F27483D-49C1-3B27-EC19-CF23802E9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9728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B730A935-3ECE-B281-B9E9-4EE268412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D81BF1EF-21F0-E3AC-B2D5-EC1DF66854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7857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012886F-6426-4343-9FB1-AFF4C867D1C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9" name="Line 13">
            <a:extLst>
              <a:ext uri="{FF2B5EF4-FFF2-40B4-BE49-F238E27FC236}">
                <a16:creationId xmlns:a16="http://schemas.microsoft.com/office/drawing/2014/main" id="{C47F9304-7B3E-5187-49EB-4065E0985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14400"/>
            <a:ext cx="1219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0" name="Line 14">
            <a:extLst>
              <a:ext uri="{FF2B5EF4-FFF2-40B4-BE49-F238E27FC236}">
                <a16:creationId xmlns:a16="http://schemas.microsoft.com/office/drawing/2014/main" id="{30A92F84-568B-7976-AA9C-7430F59C095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24600"/>
            <a:ext cx="1219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9E11FC-E55A-A67F-D300-BEFD89312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Department of Computer Engineering | SJCEM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C5E2C-4A4B-ADC7-6E53-126668617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ADE1476-3542-4D29-B053-BA1A7B867EC9}" type="datetime1">
              <a:rPr lang="en-IN" smtClean="0"/>
              <a:t>07-08-2026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  <p:sldLayoutId id="2147484168" r:id="rId12"/>
    <p:sldLayoutId id="2147484169" r:id="rId13"/>
    <p:sldLayoutId id="2147484170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8D32F96-D0AA-725A-088E-D4EA06300E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720850"/>
            <a:ext cx="11493500" cy="1555750"/>
          </a:xfrm>
        </p:spPr>
        <p:txBody>
          <a:bodyPr anchor="t"/>
          <a:lstStyle/>
          <a:p>
            <a:pPr defTabSz="912813" eaLnBrk="1" hangingPunct="1"/>
            <a:r>
              <a:rPr lang="en-US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LLM-Based Log Anomaly Detector</a:t>
            </a:r>
            <a:endParaRPr lang="en-US" altLang="en-US" sz="36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26C814-407F-67A9-67AA-A1E006EA2ED7}"/>
              </a:ext>
            </a:extLst>
          </p:cNvPr>
          <p:cNvSpPr txBox="1">
            <a:spLocks/>
          </p:cNvSpPr>
          <p:nvPr/>
        </p:nvSpPr>
        <p:spPr>
          <a:xfrm>
            <a:off x="2019300" y="3581400"/>
            <a:ext cx="8153400" cy="2590800"/>
          </a:xfrm>
          <a:prstGeom prst="rect">
            <a:avLst/>
          </a:prstGeom>
        </p:spPr>
        <p:txBody>
          <a:bodyPr lIns="91429" tIns="45714" rIns="91429" bIns="45714" anchor="ctr"/>
          <a:lstStyle/>
          <a:p>
            <a:pPr algn="ctr" defTabSz="914293" eaLnBrk="1" fontAlgn="auto" hangingPunct="1">
              <a:spcAft>
                <a:spcPts val="0"/>
              </a:spcAft>
              <a:defRPr/>
            </a:pPr>
            <a:r>
              <a:rPr sz="1800"/>
              <a:t>Harsh Bangera (Roll No. 3)</a:t>
            </a:r>
          </a:p>
          <a:p>
            <a:pPr algn="ctr"/>
            <a:r>
              <a:rPr sz="1800"/>
              <a:t>Manas Chaudhari (Roll No. 17)</a:t>
            </a:r>
          </a:p>
          <a:p>
            <a:pPr algn="ctr"/>
            <a:r>
              <a:rPr sz="1800"/>
              <a:t>Krish Mendon (Roll No. 62)</a:t>
            </a:r>
          </a:p>
          <a:p>
            <a:pPr algn="ctr"/>
            <a:r>
              <a:rPr sz="1800"/>
              <a:t>Anandan Nair (Roll No. 68)</a:t>
            </a:r>
          </a:p>
          <a:p>
            <a:pPr algn="ctr"/>
          </a:p>
          <a:p>
            <a:pPr algn="ctr"/>
            <a:r>
              <a:rPr sz="1800"/>
              <a:t>Prof. Darshan Mhapsekar</a:t>
            </a:r>
          </a:p>
          <a:p>
            <a:pPr algn="ctr"/>
            <a:r>
              <a:rPr sz="1800"/>
              <a:t>31 August 2026</a:t>
            </a:r>
          </a:p>
        </p:txBody>
      </p:sp>
      <p:sp>
        <p:nvSpPr>
          <p:cNvPr id="18436" name="Rectangle 1">
            <a:extLst>
              <a:ext uri="{FF2B5EF4-FFF2-40B4-BE49-F238E27FC236}">
                <a16:creationId xmlns:a16="http://schemas.microsoft.com/office/drawing/2014/main" id="{62987879-0BD1-FBDD-7DA9-34C8CE308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494" y="990600"/>
            <a:ext cx="70616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800" b="1" dirty="0">
                <a:latin typeface="+mj-lt"/>
                <a:cs typeface="Times New Roman" panose="02020603050405020304" pitchFamily="18" charset="0"/>
              </a:rPr>
              <a:t>DEPARTMENT OF COMPUTER ENGINEERING</a:t>
            </a:r>
            <a:endParaRPr lang="en-US" altLang="en-US" sz="28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FBE1591B-F27D-46D6-DFB4-618246502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10795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Rectangle 2">
            <a:extLst>
              <a:ext uri="{FF2B5EF4-FFF2-40B4-BE49-F238E27FC236}">
                <a16:creationId xmlns:a16="http://schemas.microsoft.com/office/drawing/2014/main" id="{CA6A998C-7198-D364-BEF9-4812B70E9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9050"/>
            <a:ext cx="94488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Aft>
                <a:spcPts val="800"/>
              </a:spcAft>
            </a:pPr>
            <a:r>
              <a:rPr lang="en-IN" altLang="en-US" sz="1400" b="1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Aldel Education Trust’s</a:t>
            </a:r>
            <a:endParaRPr lang="en-IN" altLang="en-US" sz="110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eaLnBrk="1" hangingPunct="1">
              <a:spcAft>
                <a:spcPts val="800"/>
              </a:spcAft>
            </a:pPr>
            <a:r>
              <a:rPr lang="en-IN" altLang="en-US" b="1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St. John College of Engineering and Management, Palghar</a:t>
            </a:r>
          </a:p>
          <a:p>
            <a:pPr algn="ctr" eaLnBrk="1" hangingPunct="1"/>
            <a:r>
              <a:rPr lang="en-IN" altLang="en-US" sz="1200" b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NAAC Accredited with Grade A+</a:t>
            </a:r>
            <a:endParaRPr lang="en-IN" altLang="en-US" sz="120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439" name="Picture 2">
            <a:extLst>
              <a:ext uri="{FF2B5EF4-FFF2-40B4-BE49-F238E27FC236}">
                <a16:creationId xmlns:a16="http://schemas.microsoft.com/office/drawing/2014/main" id="{569B0C18-7BA4-1E56-12E6-1157C4C81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7900" y="101600"/>
            <a:ext cx="736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2A770C3-5E86-CA2C-4E8D-129B5C900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0484" name="Content Placeholder 2">
            <a:extLst>
              <a:ext uri="{FF2B5EF4-FFF2-40B4-BE49-F238E27FC236}">
                <a16:creationId xmlns:a16="http://schemas.microsoft.com/office/drawing/2014/main" id="{F9CEE637-DC9F-8EE3-CDFE-A59F6A3A5E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Background of the Problem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Motivation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Research Gap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Proposed Methodology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System Architecture / Flow Diagram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Technologies and Resources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Project Schedule (Gantt Chart)</a:t>
            </a:r>
          </a:p>
          <a:p>
            <a:pPr algn="just"/>
            <a:r>
              <a:rPr lang="en-US" altLang="en-US" sz="2200" dirty="0"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A4BB9F26-675A-8338-EA29-E1A528F24C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2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0485" name="Footer Placeholder 1">
            <a:extLst>
              <a:ext uri="{FF2B5EF4-FFF2-40B4-BE49-F238E27FC236}">
                <a16:creationId xmlns:a16="http://schemas.microsoft.com/office/drawing/2014/main" id="{A83BFF6F-D985-C511-E100-E1624C2F27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cs typeface="Times New Roman" panose="02020603050405020304" pitchFamily="18" charset="0"/>
              </a:rPr>
              <a:t>Background of the Problem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Enterprise systems generate huge volumes of system and network logs every day, recording every login, process, and network event.</a:t>
            </a:r>
          </a:p>
          <a:p>
            <a:pPr algn="just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Security teams currently rely on SIEM tools (Splunk, ELK, QRadar) that use fixed rules and statistical thresholds to flag anomalies.</a:t>
            </a:r>
          </a:p>
          <a:p>
            <a:pPr algn="just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Rule-based detection misses novel, low-and-slow, or semantically unusual attacks that don't match a predefined signature.</a:t>
            </a:r>
          </a:p>
          <a:p>
            <a:pPr algn="just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Relevant to SOC monitoring, intrusion detection, cloud infrastructure security, and insider-threat detection.</a:t>
            </a:r>
            <a:endParaRPr lang="en-IN" altLang="en-US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9F75D728-41B1-9A7C-B75B-EB9C2283C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Problem Statement</a:t>
            </a:r>
            <a:endParaRPr lang="en-IN" altLang="en-US" b="1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1903896-E717-C83A-5D78-DEBC19C31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Traditional log monitoring cannot semantically understand log content.</a:t>
            </a:r>
          </a:p>
          <a:p>
            <a:r>
              <a:rPr lang="en-US" altLang="en-US" dirty="0"/>
              <a:t>Include</a:t>
            </a:r>
          </a:p>
          <a:p>
            <a:pPr lvl="1"/>
            <a:r>
              <a:rPr lang="en-US" altLang="en-US" dirty="0"/>
              <a:t>Existing SIEM systems detect anomalies only via fixed thresholds and known signatures.</a:t>
            </a:r>
          </a:p>
          <a:p>
            <a:pPr lvl="1"/>
            <a:r>
              <a:rPr lang="en-US" altLang="en-US" dirty="0"/>
              <a:t>Affects security analysts and organizations relying on log-based monitoring.</a:t>
            </a:r>
          </a:p>
          <a:p>
            <a:pPr lvl="1"/>
            <a:r>
              <a:rPr lang="en-US" altLang="en-US" dirty="0"/>
              <a:t>Undetected anomalies lead to prolonged, costly breaches.</a:t>
            </a:r>
          </a:p>
          <a:p>
            <a:pPr lvl="1"/>
            <a:r>
              <a:rPr lang="en-US" altLang="en-US" dirty="0"/>
              <a:t>High false negatives on novel attacks, high false positives causing alert fatigue.</a:t>
            </a:r>
          </a:p>
          <a:p>
            <a:endParaRPr lang="en-US" altLang="en-US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Existing systems rely on rigid thresholds, missing anomalous events. An LLM-based analyzer is needed to improve accuracy.</a:t>
            </a:r>
            <a:endParaRPr lang="en-IN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D666EC-2090-19D7-333D-B8400A6E13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4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92E3812-C60F-6AAA-27DE-E5A77B607E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54688A1-37B6-A4A8-B0A7-4A4FA354C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Motivation</a:t>
            </a:r>
            <a:endParaRPr lang="en-IN" altLang="en-US" b="1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2892BB3-2A6E-DAB4-19C4-05C59E363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Why this topic</a:t>
            </a:r>
          </a:p>
          <a:p>
            <a:pPr lvl="1"/>
            <a:r>
              <a:rPr lang="en-US" altLang="en-US" dirty="0"/>
              <a:t>Traditional SIEM tools generate excessive false alerts, causing analyst fatigue.</a:t>
            </a:r>
          </a:p>
          <a:p>
            <a:pPr lvl="1"/>
            <a:r>
              <a:rPr lang="en-US" altLang="en-US" dirty="0"/>
              <a:t>LLMs show strong semantic reasoning, useful for understanding log context beyond fixed patterns.</a:t>
            </a:r>
          </a:p>
          <a:p>
            <a:pPr lvl="1"/>
            <a:r>
              <a:rPr lang="en-US" altLang="en-US" dirty="0"/>
              <a:t>Directly relevant to SOC teams and cloud/enterprise IT security.</a:t>
            </a:r>
          </a:p>
          <a:p>
            <a:endParaRPr lang="en-US" altLang="en-US" dirty="0"/>
          </a:p>
          <a:p>
            <a:r>
              <a:rPr lang="en-US" altLang="en-US" dirty="0"/>
              <a:t>Supporting facts</a:t>
            </a:r>
          </a:p>
          <a:p>
            <a:pPr lvl="1"/>
            <a:r>
              <a:rPr lang="en-US" altLang="en-US" dirty="0"/>
              <a:t>Log-based breach detection still takes organizations several days on average.</a:t>
            </a:r>
          </a:p>
          <a:p>
            <a:pPr lvl="1"/>
            <a:r>
              <a:rPr lang="en-US" altLang="en-US" dirty="0"/>
              <a:t>Splunk and QRadar remain widely used but depend on manually written rules.</a:t>
            </a:r>
          </a:p>
          <a:p>
            <a:pPr lvl="1"/>
            <a:r>
              <a:rPr lang="en-US" altLang="en-US" dirty="0"/>
              <a:t>Growing industry interest in applying LLMs to SOC automation.</a:t>
            </a:r>
          </a:p>
          <a:p>
            <a:pPr lvl="1"/>
            <a:r>
              <a:rPr lang="en-US" altLang="en-US" dirty="0"/>
              <a:t>Transformer-based models outperform rule-based/classical ML on log anomaly benchmarks (HDFS, BGL).</a:t>
            </a:r>
            <a:endParaRPr lang="en-IN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BC66A37-8DF9-6C5A-EE9C-CA86697F78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5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82BE7EA-7E2D-4133-5815-B77393B658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Literature Review</a:t>
            </a:r>
            <a:endParaRPr lang="en-IN" altLang="en-US" b="1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BCBE4B9-5111-FB37-A236-871F5BEA5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Comparative study of existing approaches.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F4FEA6-27BC-9FD2-5508-905C2F5B2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81436"/>
              </p:ext>
            </p:extLst>
          </p:nvPr>
        </p:nvGraphicFramePr>
        <p:xfrm>
          <a:off x="876300" y="1752600"/>
          <a:ext cx="10477500" cy="3393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144434097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5357646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71587416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405416997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0480508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70256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DeepLog (Du et al.)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Learns normal log sequences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Misses semantic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80362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BERT (Transformer)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Learns contextual representations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large pretraining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0453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SIEM (rule-based)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Ongoing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correlation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Fast, interpretable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Misses unseen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67316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LLM-based log analysis (recent work)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2024-25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Small/fine-tuned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 understanding of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 compute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289673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807A746-7192-D505-DD0E-8098D2F53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Research Gaps</a:t>
            </a:r>
            <a:endParaRPr lang="en-IN" altLang="en-US" b="1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87397936-1466-B9B1-5B3C-B2F62A097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Key gaps identified from the literature survey: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EDB05E-2D4C-2045-D38E-7C4E3DF70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586853"/>
              </p:ext>
            </p:extLst>
          </p:nvPr>
        </p:nvGraphicFramePr>
        <p:xfrm>
          <a:off x="990600" y="2697480"/>
          <a:ext cx="8534400" cy="29184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78789007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300912698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108783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Rule-based SIEM relies on fixed thresholds/signatures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Fails to detect semantically novel or paraphrased attack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038838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deep-learning approaches (DeepLog, LogBERT) trained on narrow benchmark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generalization to real-world, heterogeneous log formats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38634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 academic models evaluated offline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Lack of a real-time, semantic, LLM-based detector benchmarked directly against SIEM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217715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6F75BB0-C4E8-D32B-E897-27F5EEE0B6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7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BB819B9A-28EE-4413-A09F-E91134FC7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9B8C-2198-7392-B70C-E98C728E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3F78855-3E0D-A906-5BA2-EA1EFBFD82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Project Objectives</a:t>
            </a:r>
            <a:endParaRPr lang="en-IN" altLang="en-US" b="1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DACDB1B-34D9-68C1-90FF-BBCEB53021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To design a log preprocessing pipeline that parses and structures raw system/network logs.</a:t>
            </a:r>
          </a:p>
          <a:p>
            <a:pPr lvl="1"/>
            <a:r>
              <a:rPr lang="en-IN" altLang="en-US" dirty="0"/>
              <a:t>To fine-tune / prompt a small LLM (or transformer) to semantically classify log entries as normal or anomalous.</a:t>
            </a:r>
          </a:p>
          <a:p>
            <a:pPr lvl="1"/>
            <a:r>
              <a:rPr lang="en-IN" altLang="en-US" dirty="0"/>
              <a:t>To build a lightweight architecture that can flag anomalies with low inference latency.</a:t>
            </a:r>
          </a:p>
          <a:p>
            <a:pPr lvl="1"/>
            <a:r>
              <a:rPr lang="en-IN" altLang="en-US" dirty="0"/>
              <a:t>To benchmark the LLM-based detector against rule-based SIEM detection on accuracy, precision, recall, and false-positive rate.</a:t>
            </a:r>
          </a:p>
          <a:p>
            <a:pPr lvl="1"/>
            <a:r>
              <a:rPr lang="en-IN" altLang="en-US" dirty="0"/>
              <a:t>To develop a demo dashboard that visualizes detected anomalies in real time.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242E841-0BE5-BBE7-CF48-144F267AB0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8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03FAB8D-7E92-8BB1-D817-3F332ACA2B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776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AF4B-954B-3E1A-E2BD-42F676D4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B8425B8-69F4-4489-61DA-BE6FF7C3A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System Architecture / Flow Diagram</a:t>
            </a:r>
            <a:endParaRPr lang="en-IN" altLang="en-US" b="1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D1F9BD7-57DC-F873-AFE5-EADBDD01E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Pipeline stages</a:t>
            </a:r>
          </a:p>
          <a:p>
            <a:pPr lvl="1"/>
            <a:r>
              <a:rPr lang="en-IN" altLang="en-US" dirty="0"/>
              <a:t>Input: Raw system/network logs (syslogs, firewall logs, auth logs)</a:t>
            </a:r>
          </a:p>
          <a:p>
            <a:pPr lvl="1"/>
            <a:r>
              <a:rPr lang="en-IN" altLang="en-US" dirty="0"/>
              <a:t>Processing: Log parsing, tokenization, and normalization into structured text sequences</a:t>
            </a:r>
          </a:p>
          <a:p>
            <a:pPr lvl="1"/>
            <a:r>
              <a:rPr lang="en-IN" altLang="en-US" dirty="0"/>
              <a:t>Database: Storage of parsed logs and embeddings for retrieval and evaluation</a:t>
            </a:r>
          </a:p>
          <a:p>
            <a:pPr lvl="1"/>
            <a:r>
              <a:rPr lang="en-IN" altLang="en-US" dirty="0"/>
              <a:t>LLM Model: Small/fine-tuned transformer scores each log sequence for semantic anomaly likelihood</a:t>
            </a:r>
          </a:p>
          <a:p>
            <a:pPr lvl="1"/>
            <a:r>
              <a:rPr lang="en-IN" altLang="en-US" dirty="0"/>
              <a:t>Output: Anomaly alerts with severity score, shown on a monitoring dashboard</a:t>
            </a:r>
          </a:p>
          <a:p>
            <a:r>
              <a:rPr lang="en-IN" altLang="en-US" dirty="0"/>
              <a:t>Block diagram to be finalized in the next stage.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AA6E376-6B54-E46C-1269-97B9A2F305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9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592A8C0-3422-C772-BE8E-4BB07EBA11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906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82ED-3D3A-12D9-AD25-08297012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Proposed Methodology</a:t>
            </a:r>
            <a:endParaRPr lang="en-IN" altLang="en-US" b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2BCC4-8DC0-067B-06A6-979CA0349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5"/>
          <a:stretch>
            <a:fillRect/>
          </a:stretch>
        </p:blipFill>
        <p:spPr>
          <a:xfrm>
            <a:off x="2154620" y="990600"/>
            <a:ext cx="7882759" cy="118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49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1AD3-6AF0-79E2-3EC3-ED576531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1BFB2BF2-F5E5-9373-B569-3E7F167AB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Proposed Methodology</a:t>
            </a:r>
            <a:endParaRPr lang="en-IN" altLang="en-US" b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82F6AF4-1777-A733-7F41-8363A3DFAB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11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A352772-2DAE-FB29-CFB0-DBD460CD94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96E54-2FA9-0D57-73CF-3C25588A5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5"/>
          <a:stretch>
            <a:fillRect/>
          </a:stretch>
        </p:blipFill>
        <p:spPr>
          <a:xfrm>
            <a:off x="2154620" y="-5143500"/>
            <a:ext cx="7882759" cy="118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96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A3DB-AAE6-3E75-3C8B-127AC21AF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94C6C0F-FE2B-121E-D243-E1C2C6A11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System Architecture / Flow Diagram</a:t>
            </a:r>
            <a:endParaRPr lang="en-IN" altLang="en-US" b="1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BDC2AEF-53D3-2E21-78B9-C192EDA768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12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89B291A-CA5A-B764-0C12-792041E20C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907A1-0EED-0B01-A8BE-9BA577915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2" r="19591"/>
          <a:stretch>
            <a:fillRect/>
          </a:stretch>
        </p:blipFill>
        <p:spPr>
          <a:xfrm>
            <a:off x="1333500" y="990600"/>
            <a:ext cx="9525000" cy="150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0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5232-D28C-CAEF-5F1D-24D82426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E365C5-46AE-D3E3-78F9-AB79F07A24B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52B92B8-64DF-1C74-40C8-022A89DFA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86E6E-E5C2-D36A-9307-9534C3734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2" r="19591"/>
          <a:stretch>
            <a:fillRect/>
          </a:stretch>
        </p:blipFill>
        <p:spPr>
          <a:xfrm>
            <a:off x="1333500" y="-5257800"/>
            <a:ext cx="9525000" cy="150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72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FDE2-D3DE-8300-9E1D-B1BF7ECE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ED8F6FEB-6060-BEC4-535D-CCA70EE6B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System Architecture / Flow Diagram</a:t>
            </a:r>
            <a:endParaRPr lang="en-IN" altLang="en-US" b="1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85A063A-8711-4230-108A-8CD52554A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14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71444F8A-2419-01E2-DC96-1C1178423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472ED-D6EE-D4C9-C567-458CB2163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2" r="19591"/>
          <a:stretch>
            <a:fillRect/>
          </a:stretch>
        </p:blipFill>
        <p:spPr>
          <a:xfrm>
            <a:off x="1333500" y="-9144000"/>
            <a:ext cx="9525000" cy="150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70A6-46F3-7E89-E613-B92CA404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361FA07-C4EA-2BBF-6B2D-9BC4EE200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Technologies and Resources</a:t>
            </a:r>
            <a:endParaRPr lang="en-IN" altLang="en-US" b="1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5C882D36-8706-843F-AD36-571CC24549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b="1" dirty="0"/>
              <a:t>Software Requirements</a:t>
            </a:r>
          </a:p>
          <a:p>
            <a:pPr lvl="1"/>
            <a:r>
              <a:rPr lang="en-IN" altLang="en-US" dirty="0"/>
              <a:t>Python, PyTorch / HuggingFace Transformers</a:t>
            </a:r>
          </a:p>
          <a:p>
            <a:pPr lvl="1"/>
            <a:r>
              <a:rPr lang="en-IN" altLang="en-US" dirty="0"/>
              <a:t>Small LLM / transformer (e.g., DistilBERT, TinyLlama, or a log-specific model such as LogBERT)</a:t>
            </a:r>
          </a:p>
          <a:p>
            <a:pPr lvl="1"/>
            <a:r>
              <a:rPr lang="en-IN" altLang="en-US" dirty="0"/>
              <a:t>Elastic Stack / Splunk (for SIEM rule-based baseline)</a:t>
            </a:r>
          </a:p>
          <a:p>
            <a:pPr lvl="1"/>
            <a:r>
              <a:rPr lang="en-IN" altLang="en-US" dirty="0"/>
              <a:t>Public log datasets: HDFS, BGL, or a network-log dataset (e.g., CIC-IDS)</a:t>
            </a:r>
          </a:p>
          <a:p>
            <a:pPr lvl="1"/>
            <a:r>
              <a:rPr lang="en-IN" altLang="en-US" dirty="0"/>
              <a:t>Flask / Streamlit for the demo dashboard</a:t>
            </a:r>
          </a:p>
          <a:p>
            <a:r>
              <a:rPr lang="en-IN" altLang="en-US" b="1" dirty="0"/>
              <a:t>Hardware Requirements</a:t>
            </a:r>
          </a:p>
          <a:p>
            <a:pPr lvl="1"/>
            <a:r>
              <a:rPr lang="en-IN" altLang="en-US" dirty="0"/>
              <a:t>GPU-enabled system / cloud GPU instance (e.g., Google Colab, Kaggle) for model fine-tuning</a:t>
            </a:r>
          </a:p>
          <a:p>
            <a:pPr lvl="1"/>
            <a:r>
              <a:rPr lang="en-IN" altLang="en-US" dirty="0"/>
              <a:t>Minimum 16 GB RAM for local preprocessing and inference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FF6A2AA-8168-EBD0-352C-6D1CF777B5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15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88073F4-81F8-0179-F7BB-A90CF29AD4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249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18A5-633E-3E23-AF91-BCCA04AC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BBBFB9D-D6F6-3408-4FB6-881F7D903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Schedule &amp; Current Progress (Gantt Chart)</a:t>
            </a:r>
            <a:endParaRPr lang="en-IN" alt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A72D0A-BC82-D31A-C550-94351F85D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01031"/>
              </p:ext>
            </p:extLst>
          </p:nvPr>
        </p:nvGraphicFramePr>
        <p:xfrm>
          <a:off x="609600" y="1524000"/>
          <a:ext cx="10972800" cy="2834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7224038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673907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19918029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5178419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673305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Month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Month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Month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Month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944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Literature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43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Requirement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02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258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27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21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465517"/>
                  </a:ext>
                </a:extLst>
              </a:tr>
            </a:tbl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981D11B-1A91-5F25-DE9D-51D7E0E489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9FF0141-AB1F-73FD-3A51-C2E92AAE5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8086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1389-1360-1EB4-8496-AD3A3449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56EE5C05-FFAD-AEC3-2F00-B616C730B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References</a:t>
            </a:r>
            <a:endParaRPr lang="en-IN" altLang="en-US" b="1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AD564103-2458-1C7D-2360-2D7994CACC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[1] M. Du, F. Li, G. Zheng, and V. Srikumar, "DeepLog: Anomaly detection and diagnosis from system logs through deep learning," in </a:t>
            </a:r>
            <a:r>
              <a:rPr lang="en-IN" altLang="en-US" sz="1600" i="1" dirty="0">
                <a:cs typeface="Times New Roman" panose="02020603050405020304" pitchFamily="18" charset="0"/>
              </a:rPr>
              <a:t>Proc. ACM SIGSAC Conf. Computer and Communications Security</a:t>
            </a:r>
            <a:r>
              <a:rPr lang="en-IN" altLang="en-US" sz="1600" dirty="0">
                <a:cs typeface="Times New Roman" panose="02020603050405020304" pitchFamily="18" charset="0"/>
              </a:rPr>
              <a:t>, 2017, pp. 1285-1298.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[2] H. Guo, S. Yuan, and X. Wu, "LogBERT: Log anomaly detection via BERT," in Proc. Int. Joint Conf. Neural Networks (IJCNN), 2021.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[3] W. Meng et al., "LogAnomaly: Unsupervised detection of sequential and quantitative anomalies in unstructured logs," in Proc. IJCAI, 2019, pp. 4739-4745.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[4] S. Zhang et al., "Robust log-based anomaly detection on unstable log data," in Proc. ESEC/FSE, 2019.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[5] A. Vaswani et al., "Attention is all you need," in Proc. Advances in Neural Information Processing Systems (NeurIPS), 2017.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1600" dirty="0">
                <a:cs typeface="Times New Roman" panose="02020603050405020304" pitchFamily="18" charset="0"/>
              </a:rPr>
              <a:t>[6] Splunk Inc., "Splunk Enterprise Security documentation," 2024. [Online]. Available: splunk.com</a:t>
            </a:r>
          </a:p>
          <a:p>
            <a:pPr marL="0" indent="0" algn="just">
              <a:buNone/>
            </a:pPr>
            <a:endParaRPr lang="en-IN" altLang="en-US" sz="1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altLang="en-US" sz="16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A5A20AD-5BAB-AB0E-04D9-03840766858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17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BA92307-F2E5-A1C6-7A14-68AE4D8C1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311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DBBFAECD-94AD-CF33-6FB6-48F3C0BBD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1675" y="2713038"/>
            <a:ext cx="8229600" cy="639762"/>
          </a:xfrm>
        </p:spPr>
        <p:txBody>
          <a:bodyPr/>
          <a:lstStyle/>
          <a:p>
            <a:r>
              <a:rPr lang="en-IN" altLang="en-US" sz="9600" dirty="0">
                <a:cs typeface="Times New Roman" panose="02020603050405020304" pitchFamily="18" charset="0"/>
              </a:rPr>
              <a:t>Thank You !!!</a:t>
            </a:r>
            <a:endParaRPr lang="en-IN" altLang="en-US" sz="6600" dirty="0">
              <a:cs typeface="Times New Roman" panose="02020603050405020304" pitchFamily="18" charset="0"/>
            </a:endParaRPr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8625153C-40AD-787D-F624-5A29F8101A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00112E9-F7A1-4B05-B298-86B515F8DB74}" type="slidenum">
              <a:rPr lang="en-US" altLang="en-US" smtClean="0">
                <a:latin typeface="+mn-lt"/>
              </a:rPr>
              <a:pPr/>
              <a:t>18</a:t>
            </a:fld>
            <a:endParaRPr lang="en-US" altLang="en-US" dirty="0">
              <a:latin typeface="+mn-lt"/>
            </a:endParaRPr>
          </a:p>
        </p:txBody>
      </p:sp>
      <p:sp>
        <p:nvSpPr>
          <p:cNvPr id="32772" name="Footer Placeholder 1">
            <a:extLst>
              <a:ext uri="{FF2B5EF4-FFF2-40B4-BE49-F238E27FC236}">
                <a16:creationId xmlns:a16="http://schemas.microsoft.com/office/drawing/2014/main" id="{27181A91-1F43-CCDB-5FFA-55988FEF16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A91EFAF0-7BB4-2A75-A3AD-724DCBC00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1675" y="2713038"/>
            <a:ext cx="8229600" cy="639762"/>
          </a:xfrm>
        </p:spPr>
        <p:txBody>
          <a:bodyPr/>
          <a:lstStyle/>
          <a:p>
            <a:r>
              <a:rPr lang="en-IN" altLang="en-US" sz="9600" dirty="0">
                <a:cs typeface="Times New Roman" panose="02020603050405020304" pitchFamily="18" charset="0"/>
              </a:rPr>
              <a:t>Q &amp; A</a:t>
            </a:r>
            <a:endParaRPr lang="en-IN" altLang="en-US" sz="6600" dirty="0">
              <a:cs typeface="Times New Roman" panose="02020603050405020304" pitchFamily="18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B5D4FBCF-32CD-04B1-F33B-71F15C66CD3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01DEFBD-4158-41CC-8FD8-5DDBE2BAA092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3796" name="Footer Placeholder 1">
            <a:extLst>
              <a:ext uri="{FF2B5EF4-FFF2-40B4-BE49-F238E27FC236}">
                <a16:creationId xmlns:a16="http://schemas.microsoft.com/office/drawing/2014/main" id="{09C4FA16-2402-7BC3-2C2E-C1FF532CE0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solidFill>
                  <a:schemeClr val="tx1"/>
                </a:solidFill>
              </a:rPr>
              <a:t>Department of Computer Engineering | SJCEM</a:t>
            </a:r>
            <a:endParaRPr lang="en-I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Contents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800"/>
              <a:t>Background of the Problem</a:t>
            </a:r>
          </a:p>
          <a:p>
            <a:pPr>
              <a:spcAft>
                <a:spcPts val="800"/>
              </a:spcAft>
            </a:pPr>
            <a:r>
              <a:rPr sz="1800"/>
              <a:t>Problem Statement</a:t>
            </a:r>
          </a:p>
          <a:p>
            <a:pPr>
              <a:spcAft>
                <a:spcPts val="800"/>
              </a:spcAft>
            </a:pPr>
            <a:r>
              <a:rPr sz="1800"/>
              <a:t>Motivation</a:t>
            </a:r>
          </a:p>
          <a:p>
            <a:pPr>
              <a:spcAft>
                <a:spcPts val="800"/>
              </a:spcAft>
            </a:pPr>
            <a:r>
              <a:rPr sz="1800"/>
              <a:t>Literature Review</a:t>
            </a:r>
          </a:p>
          <a:p>
            <a:pPr>
              <a:spcAft>
                <a:spcPts val="800"/>
              </a:spcAft>
            </a:pPr>
            <a:r>
              <a:rPr sz="1800"/>
              <a:t>Research Gaps</a:t>
            </a:r>
          </a:p>
          <a:p>
            <a:pPr>
              <a:spcAft>
                <a:spcPts val="800"/>
              </a:spcAft>
            </a:pPr>
            <a:r>
              <a:rPr sz="1800"/>
              <a:t>Project Objectives</a:t>
            </a:r>
          </a:p>
          <a:p>
            <a:pPr>
              <a:spcAft>
                <a:spcPts val="800"/>
              </a:spcAft>
            </a:pPr>
            <a:r>
              <a:rPr sz="1800"/>
              <a:t>Proposed Methodology</a:t>
            </a:r>
          </a:p>
          <a:p>
            <a:pPr>
              <a:spcAft>
                <a:spcPts val="800"/>
              </a:spcAft>
            </a:pPr>
            <a:r>
              <a:rPr sz="1800"/>
              <a:t>System Architecture / Flow Diagram</a:t>
            </a:r>
          </a:p>
          <a:p>
            <a:pPr>
              <a:spcAft>
                <a:spcPts val="800"/>
              </a:spcAft>
            </a:pPr>
            <a:r>
              <a:rPr sz="1800"/>
              <a:t>Implementation and Results</a:t>
            </a:r>
          </a:p>
          <a:p>
            <a:pPr>
              <a:spcAft>
                <a:spcPts val="800"/>
              </a:spcAft>
            </a:pPr>
            <a:r>
              <a:rPr sz="1800"/>
              <a:t>Working System (screenshots)</a:t>
            </a:r>
          </a:p>
          <a:p>
            <a:pPr>
              <a:spcAft>
                <a:spcPts val="800"/>
              </a:spcAft>
            </a:pPr>
            <a:r>
              <a:rPr sz="1800"/>
              <a:t>Technologies and Resources</a:t>
            </a:r>
          </a:p>
          <a:p>
            <a:pPr>
              <a:spcAft>
                <a:spcPts val="800"/>
              </a:spcAft>
            </a:pPr>
            <a:r>
              <a:rPr sz="1800"/>
              <a:t>Project Schedule</a:t>
            </a:r>
          </a:p>
          <a:p>
            <a:pPr>
              <a:spcAft>
                <a:spcPts val="800"/>
              </a:spcAft>
            </a:pPr>
            <a:r>
              <a:rPr sz="1800"/>
              <a:t>References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Background of the Problem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700"/>
              <a:t>Every server writes a log line for each login, process and network event; a small company produces millions a day and nobody reads them by hand.</a:t>
            </a:r>
          </a:p>
          <a:p>
            <a:pPr>
              <a:spcAft>
                <a:spcPts val="800"/>
              </a:spcAft>
            </a:pPr>
            <a:r>
              <a:rPr sz="1700"/>
              <a:t>Security teams rely on a SIEM (Splunk, QRadar, Wazuh) that matches those lines against written rules.</a:t>
            </a:r>
          </a:p>
          <a:p>
            <a:pPr>
              <a:spcAft>
                <a:spcPts val="800"/>
              </a:spcAft>
            </a:pPr>
            <a:r>
              <a:rPr sz="1700"/>
              <a:t>A rule matches text, not meaning: “Failed password for root” matches, the same event worded differently does not.</a:t>
            </a:r>
          </a:p>
          <a:p>
            <a:pPr>
              <a:spcAft>
                <a:spcPts val="800"/>
              </a:spcAft>
            </a:pPr>
            <a:r>
              <a:rPr sz="1700"/>
              <a:t>Published surveys of log anomaly detection [R2, R7] evaluate on fixed datasets where the attacker is not trying to avoid the detector.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Background — What We Measured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600"/>
              <a:t>Sigma rules: 0 of ~3,300 match an SSH authentication line (searched for Failed password, Accepted password, Invalid user, pam_unix).</a:t>
            </a:r>
          </a:p>
          <a:p>
            <a:pPr lvl="1">
              <a:spcAft>
                <a:spcPts val="800"/>
              </a:spcAft>
            </a:pPr>
            <a:r>
              <a:rPr sz="1400"/>
              <a:t>No coverage at all for the commonest attack surface on Linux.</a:t>
            </a:r>
          </a:p>
          <a:p>
            <a:pPr>
              <a:spcAft>
                <a:spcPts val="800"/>
              </a:spcAft>
            </a:pPr>
            <a:r>
              <a:rPr sz="1600"/>
              <a:t>Wazuh caught 91% of a brute force’s lines — and 29% of the same attack reworded. Same behaviour, different words.</a:t>
            </a:r>
          </a:p>
          <a:p>
            <a:pPr>
              <a:spcAft>
                <a:spcPts val="800"/>
              </a:spcAft>
            </a:pPr>
            <a:r>
              <a:rPr sz="1600"/>
              <a:t>Our detector: 97–100% of those lines in both conditions.</a:t>
            </a:r>
          </a:p>
          <a:p>
            <a:pPr>
              <a:spcAft>
                <a:spcPts val="800"/>
              </a:spcAft>
            </a:pPr>
            <a:r>
              <a:rPr sz="1600"/>
              <a:t>Alert volume on one clean corpus: Wazuh 4,546 alerts, ours 1,415 incidents, for 9 real attacks — alert fatigue, measured on both sides.</a:t>
            </a:r>
          </a:p>
          <a:p>
            <a:pPr lvl="1">
              <a:spcAft>
                <a:spcPts val="800"/>
              </a:spcAft>
            </a:pPr>
            <a:r>
              <a:rPr sz="1400"/>
              <a:t>All four measured by us on real OpenSSH logs; sources in the report.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Problem Statement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2000"/>
              <a:t>SIEM rules match the text of a log line, not its meaning, so an attacker who rewords an attack walks straight past them.</a:t>
            </a:r>
          </a:p>
          <a:p>
            <a:pPr>
              <a:spcAft>
                <a:spcPts val="800"/>
              </a:spcAft>
            </a:pPr>
            <a:r>
              <a:rPr sz="2000"/>
              <a:t>And nobody reports how much detection is actually lost when the attacker is deliberately hiding, so the size of the problem is unknown.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Motivation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700"/>
              <a:t>Analysts drown in alerts: a production SIEM raised 4,546 alerts for 9 real attacks on one clean corpus.</a:t>
            </a:r>
          </a:p>
          <a:p>
            <a:pPr>
              <a:spcAft>
                <a:spcPts val="800"/>
              </a:spcAft>
            </a:pPr>
            <a:r>
              <a:rPr sz="1700"/>
              <a:t>Words change, behaviour does not — many failures from one place, or a login from two countries an hour apart, survive rewording.</a:t>
            </a:r>
          </a:p>
          <a:p>
            <a:pPr>
              <a:spcAft>
                <a:spcPts val="800"/>
              </a:spcAft>
            </a:pPr>
            <a:r>
              <a:rPr sz="1700"/>
              <a:t>Semantic detection can follow that; string matching cannot.</a:t>
            </a:r>
          </a:p>
          <a:p>
            <a:pPr>
              <a:spcAft>
                <a:spcPts val="800"/>
              </a:spcAft>
            </a:pPr>
            <a:r>
              <a:rPr sz="1700"/>
              <a:t>It has to run where the budget is: the whole system runs on an ordinary laptop, no GPU and no cloud account.</a:t>
            </a:r>
          </a:p>
          <a:p>
            <a:pPr lvl="1">
              <a:spcAft>
                <a:spcPts val="800"/>
              </a:spcAft>
            </a:pPr>
            <a:r>
              <a:rPr sz="1500"/>
              <a:t>A GPU only speeds the written explanation up: 3.9 s versus 18.2 s per incident.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Literature Review (1 of 2)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579" name="TextBox 24578"/>
          <p:cNvSpPr txBox="1"/>
          <p:nvPr/>
        </p:nvSpPr>
        <p:spPr>
          <a:xfrm>
            <a:off x="609600" y="1120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Journal papers only — IEEE Transactions and Web of Science / Scopus indexed journals. Full PDFs are attached with this presentation.</a:t>
            </a:r>
          </a:p>
        </p:txBody>
      </p:sp>
      <p:graphicFrame>
        <p:nvGraphicFramePr>
          <p:cNvPr id="24580" name="Table 24579"/>
          <p:cNvGraphicFramePr>
            <a:graphicFrameLocks noGrp="1"/>
          </p:cNvGraphicFramePr>
          <p:nvPr/>
        </p:nvGraphicFramePr>
        <p:xfrm>
          <a:off x="609600" y="1560000"/>
          <a:ext cx="10972800" cy="2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0000">
                <a:tc>
                  <a:txBody>
                    <a:bodyPr/>
                    <a:lstStyle/>
                    <a:p>
                      <a:r>
                        <a:rPr sz="1100" b="1"/>
                        <a:t>Paper (journal, year)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Method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Finding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Limitation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R1 — Almodovar et al., LogFiT</a:t>
                      </a:r>
                    </a:p>
                    <a:p>
                      <a:r>
                        <a:rPr sz="1100"/>
                        <a:t>IEEE Trans. Network &amp; Service Mgmt,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BERT fine-tuned on log text, self-supervised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Language models read logs without labelled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Clean benchmark logs only; no evading attacker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R2 — Landauer et al., survey</a:t>
                      </a:r>
                    </a:p>
                    <a:p>
                      <a:r>
                        <a:rPr sz="1100"/>
                        <a:t>Machine Learning with Applications,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Survey of deep learning for log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Maps every major method and dataset in the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Reports evaluation is almost always static and non-adversarial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R3 — Ali et al.</a:t>
                      </a:r>
                    </a:p>
                    <a:p>
                      <a:r>
                        <a:rPr sz="1100"/>
                        <a:t>Empirical Software Engineering,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Classical ML versus deep learning,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Simpler models compete with deep models on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Clean data only; no adapting attacker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R4 — Wu, Li &amp; Khomh</a:t>
                      </a:r>
                    </a:p>
                    <a:p>
                      <a:r>
                        <a:rPr sz="1100"/>
                        <a:t>Empirical Software Engineering,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Compares ways of turning logs into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Representation choice changes results a lot; embeddings work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Does not test reworded or disguised attacks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Literature Review (2 of 2)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579" name="TextBox 24578"/>
          <p:cNvSpPr txBox="1"/>
          <p:nvPr/>
        </p:nvSpPr>
        <p:spPr>
          <a:xfrm>
            <a:off x="609600" y="1120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All eight evaluate on data where the attacker is not trying to evade the detector being tested.</a:t>
            </a:r>
          </a:p>
        </p:txBody>
      </p:sp>
      <p:graphicFrame>
        <p:nvGraphicFramePr>
          <p:cNvPr id="24580" name="Table 24579"/>
          <p:cNvGraphicFramePr>
            <a:graphicFrameLocks noGrp="1"/>
          </p:cNvGraphicFramePr>
          <p:nvPr/>
        </p:nvGraphicFramePr>
        <p:xfrm>
          <a:off x="609600" y="1560000"/>
          <a:ext cx="10972800" cy="26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0000">
                <a:tc>
                  <a:txBody>
                    <a:bodyPr/>
                    <a:lstStyle/>
                    <a:p>
                      <a:r>
                        <a:rPr sz="1100" b="1"/>
                        <a:t>Paper (journal, year)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Method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Finding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Limitation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R5 — Khan et al.</a:t>
                      </a:r>
                    </a:p>
                    <a:p>
                      <a:r>
                        <a:rPr sz="1100"/>
                        <a:t>Empirical Software Engineering,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Measures how parsing quality affects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Poor parsing quietly ruins detection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Parsing studied on clean logs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R6 — Pang et al., review</a:t>
                      </a:r>
                    </a:p>
                    <a:p>
                      <a:r>
                        <a:rPr sz="1100"/>
                        <a:t>ACM Computing Surveys,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Field review of deep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Standard definitions and method families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General; not security-log specific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R7 — Kheddar, survey</a:t>
                      </a:r>
                    </a:p>
                    <a:p>
                      <a:r>
                        <a:rPr sz="1100"/>
                        <a:t>Information Fusion,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Transformers and LLMs for intrusion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LLMs are moving into intrusion detection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Evaluation still on fixed public datasets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/>
                        <a:t>R8 — Debicha et al., TAD</a:t>
                      </a:r>
                    </a:p>
                    <a:p>
                      <a:r>
                        <a:rPr sz="1100"/>
                        <a:t>Future Generation Computer Systems,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Attackers actively evading a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Evasion measurably breaks detectors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Network traffic, not logs; no SIEM comparison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Research Gaps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579" name="TextBox 24578"/>
          <p:cNvSpPr txBox="1"/>
          <p:nvPr/>
        </p:nvSpPr>
        <p:spPr>
          <a:xfrm>
            <a:off x="609600" y="1120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Our gap: how much worse does each system get when the attacker tries to hide — measured on the same logs, at the same moment, for a research detector and a production SIEM together.</a:t>
            </a:r>
          </a:p>
        </p:txBody>
      </p:sp>
      <p:graphicFrame>
        <p:nvGraphicFramePr>
          <p:cNvPr id="24580" name="Table 24579"/>
          <p:cNvGraphicFramePr>
            <a:graphicFrameLocks noGrp="1"/>
          </p:cNvGraphicFramePr>
          <p:nvPr/>
        </p:nvGraphicFramePr>
        <p:xfrm>
          <a:off x="609600" y="1560000"/>
          <a:ext cx="10972800" cy="2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0"/>
                <a:gridCol w="5486400"/>
              </a:tblGrid>
              <a:tr h="520000">
                <a:tc>
                  <a:txBody>
                    <a:bodyPr/>
                    <a:lstStyle/>
                    <a:p>
                      <a:r>
                        <a:rPr sz="1300" b="1"/>
                        <a:t>What the literature does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Gap we work in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Rule-based SIEMs match fixed text patterns [R2, R7]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They miss the same attack once it is reworded — we measured 91% → 29%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Log anomaly models are evaluated on clean benchmark data [R1, R3, R4, R5]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Nobody reports how much detection survives an attacker who is hiding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Adversarial evasion is studied for network intrusion detection [R8]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Not for log analysis, and never against a production SIEM side by side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Project Objectives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600"/>
              <a:t>Parse raw Linux authentication and system logs into a structured, maskable form.</a:t>
            </a:r>
          </a:p>
          <a:p>
            <a:pPr>
              <a:spcAft>
                <a:spcPts val="800"/>
              </a:spcAft>
            </a:pPr>
            <a:r>
              <a:rPr sz="1600"/>
              <a:t>Detect anomalies from the meaning of a line, using sentence embeddings and a per-user Isolation Forest, with no labelled training data.</a:t>
            </a:r>
          </a:p>
          <a:p>
            <a:pPr>
              <a:spcAft>
                <a:spcPts val="800"/>
              </a:spcAft>
            </a:pPr>
            <a:r>
              <a:rPr sz="1600"/>
              <a:t>Group related anomalies into incidents and attach the matching MITRE ATT&amp;CK technique from a lookup table, never from the language model.</a:t>
            </a:r>
          </a:p>
          <a:p>
            <a:pPr>
              <a:spcAft>
                <a:spcPts val="800"/>
              </a:spcAft>
            </a:pPr>
            <a:r>
              <a:rPr sz="1600"/>
              <a:t>Explain each incident in plain English with a local LLM that runs offline.</a:t>
            </a:r>
          </a:p>
          <a:p>
            <a:pPr>
              <a:spcAft>
                <a:spcPts val="800"/>
              </a:spcAft>
            </a:pPr>
            <a:r>
              <a:rPr sz="1600"/>
              <a:t>Measure this system and a production SIEM (Wazuh) on the same logs under eight camouflage strategies, and report the difference — including where we lose.</a:t>
            </a:r>
          </a:p>
          <a:p>
            <a:pPr>
              <a:spcAft>
                <a:spcPts val="800"/>
              </a:spcAft>
            </a:pPr>
            <a:r>
              <a:rPr sz="1600"/>
              <a:t>Keep the whole system running on a laptop with no GPU and no cloud service.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Proposed Methodology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5603" name="TextBox 25602"/>
          <p:cNvSpPr txBox="1"/>
          <p:nvPr/>
        </p:nvSpPr>
        <p:spPr>
          <a:xfrm>
            <a:off x="609600" y="1060000"/>
            <a:ext cx="10972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/>
              <a:t>•  Read logs → parse and mask → embed the meaning → score each user → group into incidents → attach MITRE technique → explain in English → show the analyst.</a:t>
            </a:r>
          </a:p>
          <a:p>
            <a:pPr>
              <a:spcAft>
                <a:spcPts val="200"/>
              </a:spcAft>
            </a:pPr>
            <a:r>
              <a:rPr sz="1200"/>
              <a:t>•  Camouflaged attacks are fed back in and both systems re-scored on every change.</a:t>
            </a:r>
          </a:p>
          <a:p>
            <a:pPr>
              <a:spcAft>
                <a:spcPts val="200"/>
              </a:spcAft>
            </a:pPr>
            <a:r>
              <a:rPr sz="1200"/>
              <a:t>•  Isolation Forest over embeddings is standard; the measurement, not the detector, is what this project contributes.</a:t>
            </a:r>
          </a:p>
        </p:txBody>
      </p:sp>
      <p:pic>
        <p:nvPicPr>
          <p:cNvPr id="25604" name="Picture 25603" descr="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29" y="2050000"/>
            <a:ext cx="8951142" cy="424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System Architecture / Flow Diagram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5603" name="TextBox 25602"/>
          <p:cNvSpPr txBox="1"/>
          <p:nvPr/>
        </p:nvSpPr>
        <p:spPr>
          <a:xfrm>
            <a:off x="609600" y="1060000"/>
            <a:ext cx="10972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/>
              <a:t>•  Three live sources: a tailed file, this machine’s journal, or a paced replay.</a:t>
            </a:r>
          </a:p>
          <a:p>
            <a:pPr>
              <a:spcAft>
                <a:spcPts val="200"/>
              </a:spcAft>
            </a:pPr>
            <a:r>
              <a:rPr sz="1200"/>
              <a:t>•  The model is fitted once on history and only scores the stream after that.</a:t>
            </a:r>
          </a:p>
          <a:p>
            <a:pPr>
              <a:spcAft>
                <a:spcPts val="200"/>
              </a:spcAft>
            </a:pPr>
            <a:r>
              <a:rPr sz="1200"/>
              <a:t>•  Streaming reproduces the batch result exactly: 751 lines → 130 events → 94 incidents.</a:t>
            </a:r>
          </a:p>
          <a:p>
            <a:pPr>
              <a:spcAft>
                <a:spcPts val="200"/>
              </a:spcAft>
            </a:pPr>
            <a:r>
              <a:rPr sz="1200"/>
              <a:t>•  The Wazuh comparison track is a separate package the pipeline may never import.</a:t>
            </a:r>
          </a:p>
        </p:txBody>
      </p:sp>
      <p:pic>
        <p:nvPicPr>
          <p:cNvPr id="25604" name="Picture 2560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29" y="2050000"/>
            <a:ext cx="8951142" cy="424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Implementation — Keeping the Comparison Fair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5603" name="TextBox 25602"/>
          <p:cNvSpPr txBox="1"/>
          <p:nvPr/>
        </p:nvSpPr>
        <p:spPr>
          <a:xfrm>
            <a:off x="609600" y="1060000"/>
            <a:ext cx="10972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/>
              <a:t>•  One writer appends every line to both systems in the same call, so neither can be handed different traffic.</a:t>
            </a:r>
          </a:p>
          <a:p>
            <a:pPr>
              <a:spcAft>
                <a:spcPts val="200"/>
              </a:spcAft>
            </a:pPr>
            <a:r>
              <a:rPr sz="1200"/>
              <a:t>•  Our injector wrote the attack, so every line’s label is recorded as it goes out: ground truth is automatic.</a:t>
            </a:r>
          </a:p>
          <a:p>
            <a:pPr>
              <a:spcAft>
                <a:spcPts val="200"/>
              </a:spcAft>
            </a:pPr>
            <a:r>
              <a:rPr sz="1200"/>
              <a:t>•  The same scoring code grades both systems.</a:t>
            </a:r>
          </a:p>
          <a:p>
            <a:pPr>
              <a:spcAft>
                <a:spcPts val="200"/>
              </a:spcAft>
            </a:pPr>
            <a:r>
              <a:rPr sz="1200"/>
              <a:t>•  Built so far: foundation and 449 automated tests · benchmark platform with a real SIEM · live streaming, API and dashboard · the live bake-off.</a:t>
            </a:r>
          </a:p>
        </p:txBody>
      </p:sp>
      <p:pic>
        <p:nvPicPr>
          <p:cNvPr id="25604" name="Picture 25603" descr="b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429" y="2050000"/>
            <a:ext cx="8951142" cy="424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Results — Robustness Under Camouflage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24579" name="TextBox 24578"/>
          <p:cNvSpPr txBox="1"/>
          <p:nvPr/>
        </p:nvSpPr>
        <p:spPr>
          <a:xfrm>
            <a:off x="609600" y="1120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Drop in instance detection when the attack is camouflaged; bigger is worse. 5 seeds, real OpenSSH logs, both systems on the same corpus.</a:t>
            </a:r>
          </a:p>
        </p:txBody>
      </p:sp>
      <p:graphicFrame>
        <p:nvGraphicFramePr>
          <p:cNvPr id="24580" name="Table 24579"/>
          <p:cNvGraphicFramePr>
            <a:graphicFrameLocks noGrp="1"/>
          </p:cNvGraphicFramePr>
          <p:nvPr/>
        </p:nvGraphicFramePr>
        <p:xfrm>
          <a:off x="609600" y="1560000"/>
          <a:ext cx="10972800" cy="31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0000">
                <a:tc>
                  <a:txBody>
                    <a:bodyPr/>
                    <a:lstStyle/>
                    <a:p>
                      <a:r>
                        <a:rPr sz="1300" b="1"/>
                        <a:t>Camouflage strategy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Our drop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Wazuh’s drop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Difference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Reworded (rephrase)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+31.1 in our favour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Mimicry / noise / volume /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tie × 4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IP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−11.1 against us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Slowed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−8.9 against us</a:t>
                      </a:r>
                    </a:p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Realistic combination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−13.3 against 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Results — How to Read Them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600"/>
              <a:t>1 win, 4 ties, 3 losses, pooled over 5 seeds on real OpenSSH logs. The registered threshold (≥25 points on at least one strategy, written into git before any result existed) is cleared by rewording.</a:t>
            </a:r>
          </a:p>
          <a:p>
            <a:pPr>
              <a:spcAft>
                <a:spcPts val="800"/>
              </a:spcAft>
            </a:pPr>
            <a:r>
              <a:rPr sz="1600"/>
              <a:t>Live: rewording an impossible-travel attack took Wazuh from 3 of 3 instances to 0 of 3, while we stayed at 3 of 3.</a:t>
            </a:r>
          </a:p>
          <a:p>
            <a:pPr>
              <a:spcAft>
                <a:spcPts val="800"/>
              </a:spcAft>
            </a:pPr>
            <a:r>
              <a:rPr sz="1600"/>
              <a:t>Where we are weaker: precision 0.29 — 94 incidents for 9 real attacks; impossible travel is caught by a distance-over-time rule, not by the embeddings.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Working System (1 of 3) — Live Detection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5603" name="Picture 25602" descr="dashboard-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180000"/>
            <a:ext cx="7200000" cy="4560000"/>
          </a:xfrm>
          <a:prstGeom prst="rect">
            <a:avLst/>
          </a:prstGeom>
        </p:spPr>
      </p:pic>
      <p:sp>
        <p:nvSpPr>
          <p:cNvPr id="25604" name="TextBox 25603"/>
          <p:cNvSpPr txBox="1"/>
          <p:nvPr/>
        </p:nvSpPr>
        <p:spPr>
          <a:xfrm>
            <a:off x="609600" y="5820000"/>
            <a:ext cx="10972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A6B"/>
                </a:solidFill>
              </a:rPr>
              <a:t>The dashboard reading the running service: 751 lines seen, 751 parsed, 94 incidents, 19 notable, with the stream's own health above the list.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Working System (2 of 3) — One Incident Explained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5603" name="Picture 25602" descr="incident-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180000"/>
            <a:ext cx="7200000" cy="4560000"/>
          </a:xfrm>
          <a:prstGeom prst="rect">
            <a:avLst/>
          </a:prstGeom>
        </p:spPr>
      </p:pic>
      <p:sp>
        <p:nvSpPr>
          <p:cNvPr id="25604" name="TextBox 25603"/>
          <p:cNvSpPr txBox="1"/>
          <p:nvPr/>
        </p:nvSpPr>
        <p:spPr>
          <a:xfrm>
            <a:off x="609600" y="5820000"/>
            <a:ext cx="10972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A6B"/>
                </a:solidFill>
              </a:rPr>
              <a:t>The events that made the incident, the source addresses, the MITRE techniques from the lookup table, and the narrative written by phi3 on this laptop.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02" name="Title 1">
            <a:extLst>
              <a:ext uri="{FF2B5EF4-FFF2-40B4-BE49-F238E27FC236}">
                <a16:creationId xmlns:a16="http://schemas.microsoft.com/office/drawing/2014/main" id="{669CB3DF-F390-3E3D-9235-67BBA714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Working System (3 of 3) — The Live Bake-Off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10B483-A530-A937-5361-E82E9A3231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10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3567D46-0334-C18F-0238-5EABF1954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5603" name="Picture 25602" descr="bakeoff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0000"/>
            <a:ext cx="5386400" cy="3411386"/>
          </a:xfrm>
          <a:prstGeom prst="rect">
            <a:avLst/>
          </a:prstGeom>
        </p:spPr>
      </p:pic>
      <p:sp>
        <p:nvSpPr>
          <p:cNvPr id="25604" name="TextBox 25603"/>
          <p:cNvSpPr txBox="1"/>
          <p:nvPr/>
        </p:nvSpPr>
        <p:spPr>
          <a:xfrm>
            <a:off x="609600" y="4821386"/>
            <a:ext cx="5386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A6B"/>
                </a:solidFill>
              </a:rPr>
              <a:t>The bake-off grid — the examiner picks the attack and the camouflage level</a:t>
            </a:r>
          </a:p>
        </p:txBody>
      </p:sp>
      <p:pic>
        <p:nvPicPr>
          <p:cNvPr id="25605" name="Picture 25604" descr="bakeoff-sco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00" y="1350000"/>
            <a:ext cx="5386400" cy="3411386"/>
          </a:xfrm>
          <a:prstGeom prst="rect">
            <a:avLst/>
          </a:prstGeom>
        </p:spPr>
      </p:pic>
      <p:sp>
        <p:nvSpPr>
          <p:cNvPr id="25606" name="TextBox 25605"/>
          <p:cNvSpPr txBox="1"/>
          <p:nvPr/>
        </p:nvSpPr>
        <p:spPr>
          <a:xfrm>
            <a:off x="6196000" y="4821386"/>
            <a:ext cx="5386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A6B"/>
                </a:solidFill>
              </a:rPr>
              <a:t>Both systems scored live on the same firing — 3 of 3 instances each, 100% of lines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Technologies and Resources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500"/>
              <a:t>Software: Python 3.11 with uv · sentence-transformers (all-MiniLM-L6-v2) · scikit-learn Isolation Forest · Ollama + phi3 for the local narrative.</a:t>
            </a:r>
          </a:p>
          <a:p>
            <a:pPr>
              <a:spcAft>
                <a:spcPts val="800"/>
              </a:spcAft>
            </a:pPr>
            <a:r>
              <a:rPr sz="1500"/>
              <a:t>Comparison: the real Wazuh 4.9 manager in Docker, running its own rules.</a:t>
            </a:r>
          </a:p>
          <a:p>
            <a:pPr>
              <a:spcAft>
                <a:spcPts val="800"/>
              </a:spcAft>
            </a:pPr>
            <a:r>
              <a:rPr sz="1500"/>
              <a:t>Interfaces and testing: FastAPI service · Streamlit dashboard · 449 pytest tests · GitHub Actions on every push.</a:t>
            </a:r>
          </a:p>
          <a:p>
            <a:pPr>
              <a:spcAft>
                <a:spcPts val="800"/>
              </a:spcAft>
            </a:pPr>
            <a:r>
              <a:rPr sz="1500"/>
              <a:t>Data: LogHub OpenSSH (655,147 real lines, contains real internet attacks), LogHub Linux (99.4% parsed), and a 751-line synthetic corpus with full ground truth.</a:t>
            </a:r>
          </a:p>
          <a:p>
            <a:pPr>
              <a:spcAft>
                <a:spcPts val="800"/>
              </a:spcAft>
            </a:pPr>
            <a:r>
              <a:rPr sz="1500"/>
              <a:t>Hardware, minimum and fully supported: any laptop, no GPU, 8 GB RAM.</a:t>
            </a:r>
          </a:p>
          <a:p>
            <a:pPr lvl="1">
              <a:spcAft>
                <a:spcPts val="800"/>
              </a:spcAft>
            </a:pPr>
            <a:r>
              <a:rPr sz="1300"/>
              <a:t>Optional NVIDIA GPU only speeds the written explanation up (3.9 s vs 18.2 s).</a:t>
            </a:r>
          </a:p>
          <a:p>
            <a:pPr lvl="1">
              <a:spcAft>
                <a:spcPts val="800"/>
              </a:spcAft>
            </a:pPr>
            <a:r>
              <a:rPr sz="1300"/>
              <a:t>Demonstration setup: two laptops — one attacking and running the SIEM, one detecting.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578" name="Title 1">
            <a:extLst>
              <a:ext uri="{FF2B5EF4-FFF2-40B4-BE49-F238E27FC236}">
                <a16:creationId xmlns:a16="http://schemas.microsoft.com/office/drawing/2014/main" id="{54761797-D8DF-E85C-831A-18EC4898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Project Schedule &amp; Current Progress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8F5BEEF-F0FB-2B2C-1129-9CCB20F1FD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6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13B0644-F073-571B-69F4-910495026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graphicFrame>
        <p:nvGraphicFramePr>
          <p:cNvPr id="24579" name="Table 24578"/>
          <p:cNvGraphicFramePr>
            <a:graphicFrameLocks noGrp="1"/>
          </p:cNvGraphicFramePr>
          <p:nvPr/>
        </p:nvGraphicFramePr>
        <p:xfrm>
          <a:off x="609600" y="1200000"/>
          <a:ext cx="10972800" cy="36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00">
                <a:tc>
                  <a:txBody>
                    <a:bodyPr/>
                    <a:lstStyle/>
                    <a:p>
                      <a:r>
                        <a:rPr sz="1300" b="1"/>
                        <a:t>Task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Month 1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Month 2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Month 3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Month 4</a:t>
                      </a:r>
                    </a:p>
                  </a:txBody>
                  <a:tcPr>
                    <a:solidFill>
                      <a:srgbClr val="E6EEF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580" name="TextBox 24579"/>
          <p:cNvSpPr txBox="1"/>
          <p:nvPr/>
        </p:nvSpPr>
        <p:spPr>
          <a:xfrm>
            <a:off x="609600" y="5200000"/>
            <a:ext cx="109728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•  Done so far: foundation and test suite · benchmark platform with a real SIEM · the pre-registered robustness measurement · live streaming, API and dashboard · the live side-by-side bake-off.</a:t>
            </a:r>
          </a:p>
          <a:p>
            <a:r>
              <a:rPr sz="1200"/>
              <a:t>•  Next: sequence modelling to fix precision, then an entity graph for correlation, then attacks generated by real tools.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06" name="Title 1">
            <a:extLst>
              <a:ext uri="{FF2B5EF4-FFF2-40B4-BE49-F238E27FC236}">
                <a16:creationId xmlns:a16="http://schemas.microsoft.com/office/drawing/2014/main" id="{62D86A59-7602-8F44-F9CC-CFA65267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References</a:t>
            </a:r>
          </a:p>
        </p:txBody>
      </p:sp>
      <p:sp>
        <p:nvSpPr>
          <p:cNvPr id="6148" name="Content Placeholder 2">
            <a:extLst>
              <a:ext uri="{FF2B5EF4-FFF2-40B4-BE49-F238E27FC236}">
                <a16:creationId xmlns:a16="http://schemas.microsoft.com/office/drawing/2014/main" id="{8885C587-BA02-4E81-15AA-CDB699E6B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wrap="square"/>
          <a:lstStyle/>
          <a:p>
            <a:pPr algn="just">
              <a:spcAft>
                <a:spcPts val="800"/>
              </a:spcAft>
              <a:defRPr/>
            </a:pPr>
            <a:r>
              <a:rPr sz="1100"/>
              <a:t>[1] C. Almodovar, F. Sabrina, S. Karimi and S. Azad, “LogFiT: Log anomaly detection using fine-tuned language models,” IEEE Trans. Network and Service Management, 21(2), pp. 1715–1723, 2024. doi:10.1109/TNSM.2024.3358730</a:t>
            </a:r>
          </a:p>
          <a:p>
            <a:pPr>
              <a:spcAft>
                <a:spcPts val="800"/>
              </a:spcAft>
            </a:pPr>
            <a:r>
              <a:rPr sz="1100"/>
              <a:t>[2] M. Landauer, S. Onder, F. Skopik and M. Wurzenberger, “Deep learning for anomaly detection in log data: A survey,” Machine Learning with Applications, 12, 100470, 2023. doi:10.1016/j.mlwa.2023.100470</a:t>
            </a:r>
          </a:p>
          <a:p>
            <a:pPr>
              <a:spcAft>
                <a:spcPts val="800"/>
              </a:spcAft>
            </a:pPr>
            <a:r>
              <a:rPr sz="1100"/>
              <a:t>[3] S. Ali, C. Boufaied, D. Bianculli, P. Branco and L. Briand, “A comprehensive study of machine learning techniques for log-based anomaly detection,” Empirical Software Engineering, 30(5), 129, 2025. doi:10.1007/s10664-025-10669-3</a:t>
            </a:r>
          </a:p>
          <a:p>
            <a:pPr>
              <a:spcAft>
                <a:spcPts val="800"/>
              </a:spcAft>
            </a:pPr>
            <a:r>
              <a:rPr sz="1100"/>
              <a:t>[4] X. Wu, H. Li and F. Khomh, “On the effectiveness of log representation for log-based anomaly detection,” Empirical Software Engineering, 28(6), 137, 2023. doi:10.1007/s10664-023-10364-1</a:t>
            </a:r>
          </a:p>
          <a:p>
            <a:pPr>
              <a:spcAft>
                <a:spcPts val="800"/>
              </a:spcAft>
            </a:pPr>
            <a:r>
              <a:rPr sz="1100"/>
              <a:t>[5] Z. Khan, D. Shin, D. Bianculli and L. Briand, “Impact of log parsing on deep learning-based anomaly detection,” Empirical Software Engineering, 29(6), 139, 2024. doi:10.1007/s10664-024-10533-w</a:t>
            </a:r>
          </a:p>
          <a:p>
            <a:pPr>
              <a:spcAft>
                <a:spcPts val="800"/>
              </a:spcAft>
            </a:pPr>
            <a:r>
              <a:rPr sz="1100"/>
              <a:t>[6] G. Pang, C. Shen, L. Cao and A. van den Hengel, “Deep learning for anomaly detection: A review,” ACM Computing Surveys, 54(2), pp. 1–38, 2021. doi:10.1145/3439950</a:t>
            </a:r>
          </a:p>
          <a:p>
            <a:pPr>
              <a:spcAft>
                <a:spcPts val="800"/>
              </a:spcAft>
            </a:pPr>
            <a:r>
              <a:rPr sz="1100"/>
              <a:t>[7] H. Kheddar, “Transformers and large language models for efficient intrusion detection systems: A comprehensive survey,” Information Fusion, 124, 103347, 2025. doi:10.1016/j.inffus.2025.103347</a:t>
            </a:r>
          </a:p>
          <a:p>
            <a:pPr>
              <a:spcAft>
                <a:spcPts val="800"/>
              </a:spcAft>
            </a:pPr>
            <a:r>
              <a:rPr sz="1100"/>
              <a:t>[8] I. Debicha, R. Bauwens, T. Debatty, J.-M. Dricot, T. Kenaza and W. Mees, “TAD: Transfer learning-based multi-adversarial detection of evasion attacks against network intrusion detection systems,” Future Generation Computer Systems, 138, pp. 185–197, 2023. doi:10.1016/j.future.2022.08.011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B1DA10F-1174-D17A-D3BC-54673D9EC7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378575"/>
            <a:ext cx="28448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34BA1B3-363B-4285-B8F7-1652E6AB9E50}" type="slidenum">
              <a:rPr lang="en-US" altLang="en-US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pPr/>
              <a:t>3</a:t>
            </a:fld>
            <a:endParaRPr lang="en-US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90B7DD8-C60F-5F99-CC42-D6478EFCEB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552950" y="6356350"/>
            <a:ext cx="34480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Department of Computer Engineering | SJCEM</a:t>
            </a:r>
            <a:endParaRPr lang="en-IN" altLang="en-US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3457</TotalTime>
  <Words>1167</Words>
  <Application>Microsoft Office PowerPoint</Application>
  <PresentationFormat>Widescreen</PresentationFormat>
  <Paragraphs>189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Theme1</vt:lpstr>
      <vt:lpstr>LLM-Based Log Anomaly Detector</vt:lpstr>
      <vt:lpstr>Contents</vt:lpstr>
      <vt:lpstr>Background of the Problem</vt:lpstr>
      <vt:lpstr>Problem Statement</vt:lpstr>
      <vt:lpstr>Motivation</vt:lpstr>
      <vt:lpstr>Literature Review</vt:lpstr>
      <vt:lpstr>Research Gaps</vt:lpstr>
      <vt:lpstr>Project Objectives</vt:lpstr>
      <vt:lpstr>System Architecture / Flow Diagram</vt:lpstr>
      <vt:lpstr>Proposed Methodology</vt:lpstr>
      <vt:lpstr>Proposed Methodology</vt:lpstr>
      <vt:lpstr>System Architecture / Flow Diagram</vt:lpstr>
      <vt:lpstr>PowerPoint Presentation</vt:lpstr>
      <vt:lpstr>System Architecture / Flow Diagram</vt:lpstr>
      <vt:lpstr>Technologies and Resources</vt:lpstr>
      <vt:lpstr>Project Schedule &amp; Current Progress (Gantt Chart)</vt:lpstr>
      <vt:lpstr>References</vt:lpstr>
      <vt:lpstr>Thank You !!!</vt:lpstr>
      <vt:lpstr>Q &amp; A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Santosh Chapaneri</dc:creator>
  <cp:lastModifiedBy>Anandan Nair</cp:lastModifiedBy>
  <cp:revision>297</cp:revision>
  <dcterms:created xsi:type="dcterms:W3CDTF">2009-10-13T20:39:54Z</dcterms:created>
  <dcterms:modified xsi:type="dcterms:W3CDTF">2026-08-06T23:53:44Z</dcterms:modified>
</cp:coreProperties>
</file>